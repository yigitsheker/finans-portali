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330"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94560" y="2011680"/>
            <a:ext cx="8778240" cy="2560320"/>
          </a:xfrm>
          <a:prstGeom prst="rect">
            <a:avLst/>
          </a:prstGeom>
          <a:noFill/>
        </p:spPr>
        <p:txBody>
          <a:bodyPr wrap="square" lIns="0" tIns="0" rIns="0" bIns="0" anchor="t">
            <a:spAutoFit/>
          </a:bodyPr>
          <a:lstStyle/>
          <a:p>
            <a:pPr algn="l">
              <a:spcAft>
                <a:spcPts val="600"/>
              </a:spcAft>
            </a:pPr>
            <a:r>
              <a:rPr sz="5800" b="1">
                <a:solidFill>
                  <a:srgbClr val="1E3A8A"/>
                </a:solidFill>
                <a:latin typeface="Cambria"/>
              </a:rPr>
              <a:t>Finans Portalı</a:t>
            </a:r>
          </a:p>
          <a:p>
            <a:pPr algn="l">
              <a:spcAft>
                <a:spcPts val="400"/>
              </a:spcAft>
            </a:pPr>
            <a:r>
              <a:rPr sz="2000" b="0">
                <a:solidFill>
                  <a:srgbClr val="475569"/>
                </a:solidFill>
                <a:latin typeface="Calibri"/>
              </a:rPr>
              <a:t>Çok-varlıklı finans portföy &amp; piyasa takip platformu</a:t>
            </a:r>
          </a:p>
        </p:txBody>
      </p:sp>
      <p:sp>
        <p:nvSpPr>
          <p:cNvPr id="7" name="Rectangle 6"/>
          <p:cNvSpPr/>
          <p:nvPr/>
        </p:nvSpPr>
        <p:spPr>
          <a:xfrm>
            <a:off x="2240280" y="3794760"/>
            <a:ext cx="3291840"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0" y="4069080"/>
            <a:ext cx="8778240" cy="1645920"/>
          </a:xfrm>
          <a:prstGeom prst="rect">
            <a:avLst/>
          </a:prstGeom>
          <a:noFill/>
        </p:spPr>
        <p:txBody>
          <a:bodyPr wrap="square" lIns="0" tIns="0" rIns="0" bIns="0" anchor="t">
            <a:spAutoFit/>
          </a:bodyPr>
          <a:lstStyle/>
          <a:p>
            <a:pPr algn="l">
              <a:spcAft>
                <a:spcPts val="1000"/>
              </a:spcAft>
            </a:pPr>
            <a:r>
              <a:rPr sz="2200" b="1">
                <a:solidFill>
                  <a:srgbClr val="1D4ED8"/>
                </a:solidFill>
                <a:latin typeface="Cambria"/>
              </a:rPr>
              <a:t>Proje Sunumu</a:t>
            </a:r>
          </a:p>
          <a:p>
            <a:pPr algn="l">
              <a:spcAft>
                <a:spcPts val="200"/>
              </a:spcAft>
            </a:pPr>
            <a:r>
              <a:rPr sz="1800" b="1">
                <a:solidFill>
                  <a:srgbClr val="1F2937"/>
                </a:solidFill>
                <a:latin typeface="Calibri"/>
              </a:rPr>
              <a:t>Yiğit Şeker</a:t>
            </a:r>
          </a:p>
          <a:p>
            <a:pPr algn="l">
              <a:spcAft>
                <a:spcPts val="600"/>
              </a:spcAft>
            </a:pPr>
            <a:r>
              <a:rPr sz="1400" b="0">
                <a:solidFill>
                  <a:srgbClr val="475569"/>
                </a:solidFill>
                <a:latin typeface="Calibri"/>
              </a:rPr>
              <a:t>Sakarya Üniversitesi · Yazılım Mühendisliği</a:t>
            </a:r>
          </a:p>
        </p:txBody>
      </p:sp>
      <p:sp>
        <p:nvSpPr>
          <p:cNvPr id="9" name="Right Triangle 8"/>
          <p:cNvSpPr/>
          <p:nvPr/>
        </p:nvSpPr>
        <p:spPr>
          <a:xfrm flipV="1">
            <a:off x="0" y="0"/>
            <a:ext cx="3017520" cy="210312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Triangle 9"/>
          <p:cNvSpPr/>
          <p:nvPr/>
        </p:nvSpPr>
        <p:spPr>
          <a:xfrm flipV="1">
            <a:off x="0" y="0"/>
            <a:ext cx="1965960" cy="137160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Triangle 10"/>
          <p:cNvSpPr/>
          <p:nvPr/>
        </p:nvSpPr>
        <p:spPr>
          <a:xfrm flipH="1">
            <a:off x="9174480" y="4754880"/>
            <a:ext cx="3017520" cy="210312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H="1">
            <a:off x="10226040" y="5486400"/>
            <a:ext cx="1965960" cy="137160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Hakkımda</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28800"/>
            <a:ext cx="6583680" cy="4206240"/>
          </a:xfrm>
          <a:prstGeom prst="rect">
            <a:avLst/>
          </a:prstGeom>
          <a:noFill/>
        </p:spPr>
        <p:txBody>
          <a:bodyPr wrap="square" lIns="0" tIns="0" rIns="0" bIns="0" anchor="t">
            <a:spAutoFit/>
          </a:bodyPr>
          <a:lstStyle/>
          <a:p>
            <a:pPr algn="l">
              <a:spcAft>
                <a:spcPts val="1200"/>
              </a:spcAft>
            </a:pPr>
            <a:r>
              <a:rPr sz="1700" b="0">
                <a:solidFill>
                  <a:srgbClr val="1F2937"/>
                </a:solidFill>
                <a:latin typeface="Calibri"/>
              </a:rPr>
              <a:t>Ben Yiğit Şeker. Sakarya Üniversitesi Yazılım Mühendisliği 3. sınıf öğrencisiyim.</a:t>
            </a:r>
          </a:p>
          <a:p>
            <a:pPr algn="l">
              <a:spcAft>
                <a:spcPts val="1000"/>
              </a:spcAft>
            </a:pPr>
            <a:r>
              <a:rPr sz="1700" b="0">
                <a:solidFill>
                  <a:srgbClr val="1F2937"/>
                </a:solidFill>
                <a:latin typeface="Calibri"/>
              </a:rPr>
              <a:t>Yazılım geliştirme alanında özellikle full-stack web teknolojileri ve yapay zeka tabanlı bilgisayarlı görü projeleri üzerine çalışıyorum. Backend, frontend ve veri odaklı sistemler geliştirmenin yanında, YOLO tabanlı nesne tespiti projeleriyle yapay zekanın gerçek dünya problemlerine uygulanması konusunda deneyim kazanıyorum.</a:t>
            </a:r>
          </a:p>
        </p:txBody>
      </p:sp>
      <p:sp>
        <p:nvSpPr>
          <p:cNvPr id="10" name="Rectangle 9"/>
          <p:cNvSpPr/>
          <p:nvPr/>
        </p:nvSpPr>
        <p:spPr>
          <a:xfrm>
            <a:off x="7955279" y="1828800"/>
            <a:ext cx="3291840" cy="31089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2057400"/>
            <a:ext cx="2743200" cy="2743200"/>
          </a:xfrm>
          <a:prstGeom prst="rect">
            <a:avLst/>
          </a:prstGeom>
          <a:noFill/>
        </p:spPr>
        <p:txBody>
          <a:bodyPr wrap="square" lIns="0" tIns="0" rIns="0" bIns="0" anchor="t">
            <a:spAutoFit/>
          </a:bodyPr>
          <a:lstStyle/>
          <a:p>
            <a:pPr algn="l">
              <a:spcAft>
                <a:spcPts val="1000"/>
              </a:spcAft>
            </a:pPr>
            <a:r>
              <a:rPr sz="1300" b="1">
                <a:solidFill>
                  <a:srgbClr val="1D4ED8"/>
                </a:solidFill>
                <a:latin typeface="Cambria"/>
              </a:rPr>
              <a:t>Künye</a:t>
            </a:r>
          </a:p>
          <a:p>
            <a:pPr algn="l">
              <a:spcAft>
                <a:spcPts val="0"/>
              </a:spcAft>
            </a:pPr>
            <a:r>
              <a:rPr sz="1100" b="0">
                <a:solidFill>
                  <a:srgbClr val="475569"/>
                </a:solidFill>
                <a:latin typeface="Calibri"/>
              </a:rPr>
              <a:t>Bölüm</a:t>
            </a:r>
          </a:p>
          <a:p>
            <a:pPr algn="l">
              <a:spcAft>
                <a:spcPts val="800"/>
              </a:spcAft>
            </a:pPr>
            <a:r>
              <a:rPr sz="1400" b="1">
                <a:solidFill>
                  <a:srgbClr val="1F2937"/>
                </a:solidFill>
                <a:latin typeface="Calibri"/>
              </a:rPr>
              <a:t>Yazılım Müh. · 3. sınıf</a:t>
            </a:r>
          </a:p>
          <a:p>
            <a:pPr algn="l">
              <a:spcAft>
                <a:spcPts val="0"/>
              </a:spcAft>
            </a:pPr>
            <a:r>
              <a:rPr sz="1100" b="0">
                <a:solidFill>
                  <a:srgbClr val="475569"/>
                </a:solidFill>
                <a:latin typeface="Calibri"/>
              </a:rPr>
              <a:t>Not Ortalaması (GNO)</a:t>
            </a:r>
          </a:p>
          <a:p>
            <a:pPr algn="l">
              <a:spcAft>
                <a:spcPts val="800"/>
              </a:spcAft>
            </a:pPr>
            <a:r>
              <a:rPr sz="1400" b="1">
                <a:solidFill>
                  <a:srgbClr val="1F2937"/>
                </a:solidFill>
                <a:latin typeface="Calibri"/>
              </a:rPr>
              <a:t>2.78</a:t>
            </a:r>
          </a:p>
          <a:p>
            <a:pPr algn="l">
              <a:spcAft>
                <a:spcPts val="0"/>
              </a:spcAft>
            </a:pPr>
            <a:r>
              <a:rPr sz="1100" b="0">
                <a:solidFill>
                  <a:srgbClr val="475569"/>
                </a:solidFill>
                <a:latin typeface="Calibri"/>
              </a:rPr>
              <a:t>İngilizce</a:t>
            </a:r>
          </a:p>
          <a:p>
            <a:pPr algn="l">
              <a:spcAft>
                <a:spcPts val="800"/>
              </a:spcAft>
            </a:pPr>
            <a:r>
              <a:rPr sz="1400" b="1">
                <a:solidFill>
                  <a:srgbClr val="1F2937"/>
                </a:solidFill>
                <a:latin typeface="Calibri"/>
              </a:rPr>
              <a:t>B2</a:t>
            </a:r>
          </a:p>
          <a:p>
            <a:pPr algn="l">
              <a:spcAft>
                <a:spcPts val="0"/>
              </a:spcAft>
            </a:pPr>
            <a:r>
              <a:rPr sz="1100" b="0">
                <a:solidFill>
                  <a:srgbClr val="475569"/>
                </a:solidFill>
                <a:latin typeface="Calibri"/>
              </a:rPr>
              <a:t>İlgi alanları</a:t>
            </a:r>
          </a:p>
          <a:p>
            <a:pPr algn="l">
              <a:spcAft>
                <a:spcPts val="800"/>
              </a:spcAft>
            </a:pPr>
            <a:r>
              <a:rPr sz="1400" b="1">
                <a:solidFill>
                  <a:srgbClr val="1F2937"/>
                </a:solidFill>
                <a:latin typeface="Calibri"/>
              </a:rPr>
              <a:t>Full-stack web · Yapay zeka / bilgisayarlı görü (YOLO)</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Proje Hakkında &amp; Amaç</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783080"/>
            <a:ext cx="10058400" cy="1463040"/>
          </a:xfrm>
          <a:prstGeom prst="rect">
            <a:avLst/>
          </a:prstGeom>
          <a:noFill/>
        </p:spPr>
        <p:txBody>
          <a:bodyPr wrap="square" lIns="0" tIns="0" rIns="0" bIns="0" anchor="t">
            <a:spAutoFit/>
          </a:bodyPr>
          <a:lstStyle/>
          <a:p>
            <a:pPr algn="l">
              <a:spcAft>
                <a:spcPts val="400"/>
              </a:spcAft>
            </a:pPr>
            <a:r>
              <a:rPr sz="1600" b="1">
                <a:solidFill>
                  <a:srgbClr val="1D4ED8"/>
                </a:solidFill>
                <a:latin typeface="Cambria"/>
              </a:rPr>
              <a:t>Ne sunar?</a:t>
            </a:r>
          </a:p>
          <a:p>
            <a:pPr algn="l">
              <a:spcAft>
                <a:spcPts val="800"/>
              </a:spcAft>
            </a:pPr>
            <a:r>
              <a:rPr sz="1550" b="0">
                <a:solidFill>
                  <a:srgbClr val="1F2937"/>
                </a:solidFill>
                <a:latin typeface="Calibri"/>
              </a:rPr>
              <a:t>Hisse, kripto, yatırım fonu, tahvil/bono, döviz, emtia ve VİOP'u; enflasyon, faiz ve döviz kuru gibi makro verileri; finans haberlerini ve kullanıcının kişisel portföyünü TEK bir modern web arayüzünde birleştirir.</a:t>
            </a:r>
          </a:p>
        </p:txBody>
      </p:sp>
      <p:sp>
        <p:nvSpPr>
          <p:cNvPr id="10" name="TextBox 9"/>
          <p:cNvSpPr txBox="1"/>
          <p:nvPr/>
        </p:nvSpPr>
        <p:spPr>
          <a:xfrm>
            <a:off x="1051560" y="3566160"/>
            <a:ext cx="10058400" cy="2377440"/>
          </a:xfrm>
          <a:prstGeom prst="rect">
            <a:avLst/>
          </a:prstGeom>
          <a:noFill/>
        </p:spPr>
        <p:txBody>
          <a:bodyPr wrap="square" lIns="0" tIns="0" rIns="0" bIns="0" anchor="t">
            <a:spAutoFit/>
          </a:bodyPr>
          <a:lstStyle/>
          <a:p>
            <a:pPr algn="l">
              <a:spcAft>
                <a:spcPts val="400"/>
              </a:spcAft>
            </a:pPr>
            <a:r>
              <a:rPr sz="1600" b="1">
                <a:solidFill>
                  <a:srgbClr val="1D4ED8"/>
                </a:solidFill>
                <a:latin typeface="Cambria"/>
              </a:rPr>
              <a:t>Amaç</a:t>
            </a:r>
          </a:p>
          <a:p>
            <a:pPr algn="l">
              <a:spcAft>
                <a:spcPts val="600"/>
              </a:spcAft>
            </a:pPr>
            <a:r>
              <a:rPr sz="1550" b="0">
                <a:solidFill>
                  <a:srgbClr val="1F2937"/>
                </a:solidFill>
                <a:latin typeface="Calibri"/>
              </a:rPr>
              <a:t>Dağınık finans uygulamalarını tek ekranda toplamak ve veriyi yalnızca göstermekle kalmayıp anlamlandırmak:</a:t>
            </a:r>
          </a:p>
          <a:p>
            <a:pPr algn="l">
              <a:spcAft>
                <a:spcPts val="500"/>
              </a:spcAft>
            </a:pPr>
            <a:r>
              <a:rPr sz="1500" b="0">
                <a:solidFill>
                  <a:srgbClr val="1F2937"/>
                </a:solidFill>
                <a:latin typeface="Calibri"/>
              </a:rPr>
              <a:t>▸  Enflasyondan arındırılmış gerçek (reel) getiri — “kazandım mı, gerçekten kazandım mı?”</a:t>
            </a:r>
          </a:p>
          <a:p>
            <a:pPr algn="l">
              <a:spcAft>
                <a:spcPts val="500"/>
              </a:spcAft>
            </a:pPr>
            <a:r>
              <a:rPr sz="1500" b="0">
                <a:solidFill>
                  <a:srgbClr val="1F2937"/>
                </a:solidFill>
                <a:latin typeface="Calibri"/>
              </a:rPr>
              <a:t>▸  Risk ve kısa/uzun vade sinyalleri ile çapraz-varlık analiz</a:t>
            </a:r>
          </a:p>
          <a:p>
            <a:pPr algn="l">
              <a:spcAft>
                <a:spcPts val="500"/>
              </a:spcAft>
            </a:pPr>
            <a:r>
              <a:rPr sz="1500" b="0">
                <a:solidFill>
                  <a:srgbClr val="1F2937"/>
                </a:solidFill>
                <a:latin typeface="Calibri"/>
              </a:rPr>
              <a:t>▸  Sorumlu yapay zeka danışman (yatırım tavsiyesi değildir uyarısıyla)</a:t>
            </a: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Öne Çıkan Özellikler</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2880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182880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195681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Çok varlıklı canlı piyasa</a:t>
            </a:r>
          </a:p>
          <a:p>
            <a:pPr algn="l">
              <a:spcAft>
                <a:spcPts val="600"/>
              </a:spcAft>
            </a:pPr>
            <a:r>
              <a:rPr sz="1300" b="0">
                <a:solidFill>
                  <a:srgbClr val="1F2937"/>
                </a:solidFill>
                <a:latin typeface="Calibri"/>
              </a:rPr>
              <a:t>Hisse/kripto/fon/tahvil/döviz/emtia/VİOP; grafikler, sparkline, arama-filtre.</a:t>
            </a:r>
          </a:p>
        </p:txBody>
      </p:sp>
      <p:sp>
        <p:nvSpPr>
          <p:cNvPr id="12" name="Rectangle 11"/>
          <p:cNvSpPr/>
          <p:nvPr/>
        </p:nvSpPr>
        <p:spPr>
          <a:xfrm>
            <a:off x="6537960" y="182880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37960" y="182880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195681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Portföy &amp; reel getiri</a:t>
            </a:r>
          </a:p>
          <a:p>
            <a:pPr algn="l">
              <a:spcAft>
                <a:spcPts val="600"/>
              </a:spcAft>
            </a:pPr>
            <a:r>
              <a:rPr sz="1300" b="0">
                <a:solidFill>
                  <a:srgbClr val="1F2937"/>
                </a:solidFill>
                <a:latin typeface="Calibri"/>
              </a:rPr>
              <a:t>Kâr/zarar, dağılım grafiği, enflasyona göre reel getiri, Excel ile içe aktarma.</a:t>
            </a:r>
          </a:p>
        </p:txBody>
      </p:sp>
      <p:sp>
        <p:nvSpPr>
          <p:cNvPr id="15" name="Rectangle 14"/>
          <p:cNvSpPr/>
          <p:nvPr/>
        </p:nvSpPr>
        <p:spPr>
          <a:xfrm>
            <a:off x="1051560" y="352044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51560" y="352044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07592" y="364845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Fiyat alarmları &amp; listeler</a:t>
            </a:r>
          </a:p>
          <a:p>
            <a:pPr algn="l">
              <a:spcAft>
                <a:spcPts val="600"/>
              </a:spcAft>
            </a:pPr>
            <a:r>
              <a:rPr sz="1300" b="0">
                <a:solidFill>
                  <a:srgbClr val="1F2937"/>
                </a:solidFill>
                <a:latin typeface="Calibri"/>
              </a:rPr>
              <a:t>Hedef fiyat alarmı (uygulama içi + e-posta), kişisel takip listeleri.</a:t>
            </a:r>
          </a:p>
        </p:txBody>
      </p:sp>
      <p:sp>
        <p:nvSpPr>
          <p:cNvPr id="18" name="Rectangle 17"/>
          <p:cNvSpPr/>
          <p:nvPr/>
        </p:nvSpPr>
        <p:spPr>
          <a:xfrm>
            <a:off x="6537960" y="352044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37960" y="352044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93992" y="364845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Yapay zeka danışman</a:t>
            </a:r>
          </a:p>
          <a:p>
            <a:pPr algn="l">
              <a:spcAft>
                <a:spcPts val="600"/>
              </a:spcAft>
            </a:pPr>
            <a:r>
              <a:rPr sz="1300" b="0">
                <a:solidFill>
                  <a:srgbClr val="1F2937"/>
                </a:solidFill>
                <a:latin typeface="Calibri"/>
              </a:rPr>
              <a:t>Sohbet tabanlı finans asistanı + çapraz-varlık analiz tablosu.</a:t>
            </a:r>
          </a:p>
        </p:txBody>
      </p:sp>
      <p:sp>
        <p:nvSpPr>
          <p:cNvPr id="21" name="Rectangle 20"/>
          <p:cNvSpPr/>
          <p:nvPr/>
        </p:nvSpPr>
        <p:spPr>
          <a:xfrm>
            <a:off x="1051560" y="521208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51560" y="521208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07592" y="534009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Tahvil &amp; VİOP simülasyonu</a:t>
            </a:r>
          </a:p>
          <a:p>
            <a:pPr algn="l">
              <a:spcAft>
                <a:spcPts val="600"/>
              </a:spcAft>
            </a:pPr>
            <a:r>
              <a:rPr sz="1300" b="0">
                <a:solidFill>
                  <a:srgbClr val="1F2937"/>
                </a:solidFill>
                <a:latin typeface="Calibri"/>
              </a:rPr>
              <a:t>Long/short, teminat, nominal/kupon/itfa — gerçek emir değil, simülasyon.</a:t>
            </a:r>
          </a:p>
        </p:txBody>
      </p:sp>
      <p:sp>
        <p:nvSpPr>
          <p:cNvPr id="24" name="Rectangle 23"/>
          <p:cNvSpPr/>
          <p:nvPr/>
        </p:nvSpPr>
        <p:spPr>
          <a:xfrm>
            <a:off x="6537960" y="5212080"/>
            <a:ext cx="5074920" cy="13716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37960" y="5212080"/>
            <a:ext cx="82296" cy="1371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3992" y="5340096"/>
            <a:ext cx="4617720" cy="1188720"/>
          </a:xfrm>
          <a:prstGeom prst="rect">
            <a:avLst/>
          </a:prstGeom>
          <a:noFill/>
        </p:spPr>
        <p:txBody>
          <a:bodyPr wrap="square" lIns="0" tIns="0" rIns="0" bIns="0" anchor="t">
            <a:spAutoFit/>
          </a:bodyPr>
          <a:lstStyle/>
          <a:p>
            <a:pPr algn="l">
              <a:spcAft>
                <a:spcPts val="300"/>
              </a:spcAft>
            </a:pPr>
            <a:r>
              <a:rPr sz="1500" b="1">
                <a:solidFill>
                  <a:srgbClr val="1E3A8A"/>
                </a:solidFill>
                <a:latin typeface="Cambria"/>
              </a:rPr>
              <a:t>Çok dilli &amp; güvenli</a:t>
            </a:r>
          </a:p>
          <a:p>
            <a:pPr algn="l">
              <a:spcAft>
                <a:spcPts val="600"/>
              </a:spcAft>
            </a:pPr>
            <a:r>
              <a:rPr sz="1300" b="0">
                <a:solidFill>
                  <a:srgbClr val="1F2937"/>
                </a:solidFill>
                <a:latin typeface="Calibri"/>
              </a:rPr>
              <a:t>TR/EN arayüz + otomatik haber çevirisi; 2FA ile güvenli giriş.</a:t>
            </a:r>
          </a:p>
        </p:txBody>
      </p:sp>
      <p:sp>
        <p:nvSpPr>
          <p:cNvPr id="27" name="Right Triangle 26"/>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Triangle 27"/>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Triangle 28"/>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Triangle 29"/>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Mimari Genel Bakış</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74519"/>
            <a:ext cx="2286000" cy="914400"/>
          </a:xfrm>
          <a:prstGeom prst="rect">
            <a:avLst/>
          </a:prstGeom>
          <a:solidFill>
            <a:srgbClr val="DBEAFE"/>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16152"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Tarayıcı</a:t>
            </a:r>
          </a:p>
          <a:p>
            <a:pPr algn="l">
              <a:spcAft>
                <a:spcPts val="600"/>
              </a:spcAft>
            </a:pPr>
            <a:r>
              <a:rPr sz="1300" b="0">
                <a:solidFill>
                  <a:srgbClr val="1F2937"/>
                </a:solidFill>
                <a:latin typeface="Calibri"/>
              </a:rPr>
              <a:t>React SPA</a:t>
            </a:r>
          </a:p>
        </p:txBody>
      </p:sp>
      <p:sp>
        <p:nvSpPr>
          <p:cNvPr id="11" name="TextBox 10"/>
          <p:cNvSpPr txBox="1"/>
          <p:nvPr/>
        </p:nvSpPr>
        <p:spPr>
          <a:xfrm>
            <a:off x="3337560"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2" name="Rectangle 11"/>
          <p:cNvSpPr/>
          <p:nvPr/>
        </p:nvSpPr>
        <p:spPr>
          <a:xfrm>
            <a:off x="3721608" y="1874519"/>
            <a:ext cx="2286000" cy="91440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86200"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nginx</a:t>
            </a:r>
          </a:p>
          <a:p>
            <a:pPr algn="l">
              <a:spcAft>
                <a:spcPts val="600"/>
              </a:spcAft>
            </a:pPr>
            <a:r>
              <a:rPr sz="1300" b="0">
                <a:solidFill>
                  <a:srgbClr val="1F2937"/>
                </a:solidFill>
                <a:latin typeface="Calibri"/>
              </a:rPr>
              <a:t>ters vekil</a:t>
            </a:r>
          </a:p>
        </p:txBody>
      </p:sp>
      <p:sp>
        <p:nvSpPr>
          <p:cNvPr id="14" name="TextBox 13"/>
          <p:cNvSpPr txBox="1"/>
          <p:nvPr/>
        </p:nvSpPr>
        <p:spPr>
          <a:xfrm>
            <a:off x="6007608"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5" name="Rectangle 14"/>
          <p:cNvSpPr/>
          <p:nvPr/>
        </p:nvSpPr>
        <p:spPr>
          <a:xfrm>
            <a:off x="6391656" y="1874519"/>
            <a:ext cx="2286000" cy="914400"/>
          </a:xfrm>
          <a:prstGeom prst="rect">
            <a:avLst/>
          </a:prstGeom>
          <a:solidFill>
            <a:srgbClr val="DBEAFE"/>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8"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Spring Boot</a:t>
            </a:r>
          </a:p>
          <a:p>
            <a:pPr algn="l">
              <a:spcAft>
                <a:spcPts val="600"/>
              </a:spcAft>
            </a:pPr>
            <a:r>
              <a:rPr sz="1300" b="0">
                <a:solidFill>
                  <a:srgbClr val="1F2937"/>
                </a:solidFill>
                <a:latin typeface="Calibri"/>
              </a:rPr>
              <a:t>REST /api/v1</a:t>
            </a:r>
          </a:p>
        </p:txBody>
      </p:sp>
      <p:sp>
        <p:nvSpPr>
          <p:cNvPr id="17" name="TextBox 16"/>
          <p:cNvSpPr txBox="1"/>
          <p:nvPr/>
        </p:nvSpPr>
        <p:spPr>
          <a:xfrm>
            <a:off x="8677656" y="1874519"/>
            <a:ext cx="384048" cy="914400"/>
          </a:xfrm>
          <a:prstGeom prst="rect">
            <a:avLst/>
          </a:prstGeom>
          <a:noFill/>
        </p:spPr>
        <p:txBody>
          <a:bodyPr wrap="square" lIns="0" tIns="0" rIns="0" bIns="0" anchor="ctr">
            <a:spAutoFit/>
          </a:bodyPr>
          <a:lstStyle/>
          <a:p>
            <a:pPr algn="ctr">
              <a:spcAft>
                <a:spcPts val="600"/>
              </a:spcAft>
            </a:pPr>
            <a:r>
              <a:rPr sz="2000" b="1">
                <a:solidFill>
                  <a:srgbClr val="1D4ED8"/>
                </a:solidFill>
                <a:latin typeface="Calibri"/>
              </a:rPr>
              <a:t>→</a:t>
            </a:r>
          </a:p>
        </p:txBody>
      </p:sp>
      <p:sp>
        <p:nvSpPr>
          <p:cNvPr id="18" name="Rectangle 17"/>
          <p:cNvSpPr/>
          <p:nvPr/>
        </p:nvSpPr>
        <p:spPr>
          <a:xfrm>
            <a:off x="9061704" y="1874519"/>
            <a:ext cx="2286000" cy="914400"/>
          </a:xfrm>
          <a:prstGeom prst="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26296" y="1984247"/>
            <a:ext cx="2011680" cy="731520"/>
          </a:xfrm>
          <a:prstGeom prst="rect">
            <a:avLst/>
          </a:prstGeom>
          <a:noFill/>
        </p:spPr>
        <p:txBody>
          <a:bodyPr wrap="square" lIns="0" tIns="0" rIns="0" bIns="0" anchor="t">
            <a:spAutoFit/>
          </a:bodyPr>
          <a:lstStyle/>
          <a:p>
            <a:pPr algn="l">
              <a:spcAft>
                <a:spcPts val="200"/>
              </a:spcAft>
            </a:pPr>
            <a:r>
              <a:rPr sz="1400" b="1">
                <a:solidFill>
                  <a:srgbClr val="1E3A8A"/>
                </a:solidFill>
                <a:latin typeface="Cambria"/>
              </a:rPr>
              <a:t>PostgreSQL</a:t>
            </a:r>
          </a:p>
          <a:p>
            <a:pPr algn="l">
              <a:spcAft>
                <a:spcPts val="600"/>
              </a:spcAft>
            </a:pPr>
            <a:r>
              <a:rPr sz="1300" b="0">
                <a:solidFill>
                  <a:srgbClr val="1F2937"/>
                </a:solidFill>
                <a:latin typeface="Calibri"/>
              </a:rPr>
              <a:t>Flyway + JPA</a:t>
            </a:r>
          </a:p>
        </p:txBody>
      </p:sp>
      <p:sp>
        <p:nvSpPr>
          <p:cNvPr id="20" name="TextBox 19"/>
          <p:cNvSpPr txBox="1"/>
          <p:nvPr/>
        </p:nvSpPr>
        <p:spPr>
          <a:xfrm>
            <a:off x="1051560" y="3200400"/>
            <a:ext cx="10149840" cy="3108960"/>
          </a:xfrm>
          <a:prstGeom prst="rect">
            <a:avLst/>
          </a:prstGeom>
          <a:noFill/>
        </p:spPr>
        <p:txBody>
          <a:bodyPr wrap="square" lIns="0" tIns="0" rIns="0" bIns="0" anchor="t">
            <a:spAutoFit/>
          </a:bodyPr>
          <a:lstStyle/>
          <a:p>
            <a:pPr algn="l">
              <a:spcAft>
                <a:spcPts val="1000"/>
              </a:spcAft>
            </a:pPr>
            <a:r>
              <a:rPr sz="1450" b="1">
                <a:solidFill>
                  <a:srgbClr val="1F2937"/>
                </a:solidFill>
                <a:latin typeface="Calibri"/>
              </a:rPr>
              <a:t>Katmanlı mimari:  Controller → Service → Repository (JPA) → PostgreSQL; dış kaynaklara erişim ayrı client paketinde izole.</a:t>
            </a:r>
          </a:p>
          <a:p>
            <a:pPr algn="l">
              <a:spcAft>
                <a:spcPts val="200"/>
              </a:spcAft>
            </a:pPr>
            <a:r>
              <a:rPr sz="1400" b="1">
                <a:solidFill>
                  <a:srgbClr val="1D4ED8"/>
                </a:solidFill>
                <a:latin typeface="Cambria"/>
              </a:rPr>
              <a:t>Kimlik:</a:t>
            </a:r>
          </a:p>
          <a:p>
            <a:pPr algn="l">
              <a:spcAft>
                <a:spcPts val="800"/>
              </a:spcAft>
            </a:pPr>
            <a:r>
              <a:rPr sz="1350" b="0">
                <a:solidFill>
                  <a:srgbClr val="1F2937"/>
                </a:solidFill>
                <a:latin typeface="Calibri"/>
              </a:rPr>
              <a:t>Keycloak (OIDC + 2FA TOTP), Spring Security OAuth2 Resource Server (JWT/RS256).</a:t>
            </a:r>
          </a:p>
          <a:p>
            <a:pPr algn="l">
              <a:spcAft>
                <a:spcPts val="200"/>
              </a:spcAft>
            </a:pPr>
            <a:r>
              <a:rPr sz="1400" b="1">
                <a:solidFill>
                  <a:srgbClr val="1D4ED8"/>
                </a:solidFill>
                <a:latin typeface="Cambria"/>
              </a:rPr>
              <a:t>Gözlemlenebilirlik:</a:t>
            </a:r>
          </a:p>
          <a:p>
            <a:pPr algn="l">
              <a:spcAft>
                <a:spcPts val="800"/>
              </a:spcAft>
            </a:pPr>
            <a:r>
              <a:rPr sz="1350" b="0">
                <a:solidFill>
                  <a:srgbClr val="1F2937"/>
                </a:solidFill>
                <a:latin typeface="Calibri"/>
              </a:rPr>
              <a:t>Loglar: Log4j2 → Kafka → log-consumer → OpenSearch.   Metrik: Micrometer → Prometheus → Grafana.   İz: OpenTelemetry → Jaeger.</a:t>
            </a:r>
          </a:p>
          <a:p>
            <a:pPr algn="l">
              <a:spcAft>
                <a:spcPts val="200"/>
              </a:spcAft>
            </a:pPr>
            <a:r>
              <a:rPr sz="1400" b="1">
                <a:solidFill>
                  <a:srgbClr val="1D4ED8"/>
                </a:solidFill>
                <a:latin typeface="Cambria"/>
              </a:rPr>
              <a:t>Dağıtım:</a:t>
            </a:r>
          </a:p>
          <a:p>
            <a:pPr algn="l">
              <a:spcAft>
                <a:spcPts val="600"/>
              </a:spcAft>
            </a:pPr>
            <a:r>
              <a:rPr sz="1350" b="0">
                <a:solidFill>
                  <a:srgbClr val="1F2937"/>
                </a:solidFill>
                <a:latin typeface="Calibri"/>
              </a:rPr>
              <a:t>Docker Compose (tüm yığın) + Kubernetes / Kustomize / GKE; Caffeine in-memory cache.</a:t>
            </a:r>
          </a:p>
        </p:txBody>
      </p:sp>
      <p:sp>
        <p:nvSpPr>
          <p:cNvPr id="21" name="Right Triangle 2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Triangle 2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Triangle 2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Triangle 2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Karşılanan Proje İsterleri</a:t>
            </a:r>
          </a:p>
          <a:p>
            <a:pPr algn="l">
              <a:spcAft>
                <a:spcPts val="600"/>
              </a:spcAft>
            </a:pPr>
            <a:r>
              <a:rPr sz="1400" b="0">
                <a:solidFill>
                  <a:srgbClr val="475569"/>
                </a:solidFill>
                <a:latin typeface="Calibri"/>
              </a:rPr>
              <a:t>Zorunlu isterlerin tamamı uygulandı</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74519"/>
            <a:ext cx="5029200" cy="4206240"/>
          </a:xfrm>
          <a:prstGeom prst="rect">
            <a:avLst/>
          </a:prstGeom>
          <a:noFill/>
        </p:spPr>
        <p:txBody>
          <a:bodyPr wrap="square" lIns="0" tIns="0" rIns="0" bIns="0" anchor="t">
            <a:spAutoFit/>
          </a:bodyPr>
          <a:lstStyle/>
          <a:p>
            <a:pPr algn="l">
              <a:spcAft>
                <a:spcPts val="100"/>
              </a:spcAft>
            </a:pPr>
            <a:r>
              <a:rPr sz="1500" b="1">
                <a:solidFill>
                  <a:srgbClr val="15803D"/>
                </a:solidFill>
                <a:latin typeface="Cambria"/>
              </a:rPr>
              <a:t>✓  Frontend</a:t>
            </a:r>
          </a:p>
          <a:p>
            <a:pPr algn="l">
              <a:spcAft>
                <a:spcPts val="900"/>
              </a:spcAft>
            </a:pPr>
            <a:r>
              <a:rPr sz="1250" b="0">
                <a:solidFill>
                  <a:srgbClr val="1F2937"/>
                </a:solidFill>
                <a:latin typeface="Calibri"/>
              </a:rPr>
              <a:t>     ReactJS</a:t>
            </a:r>
          </a:p>
          <a:p>
            <a:pPr algn="l">
              <a:spcAft>
                <a:spcPts val="100"/>
              </a:spcAft>
            </a:pPr>
            <a:r>
              <a:rPr sz="1500" b="1">
                <a:solidFill>
                  <a:srgbClr val="15803D"/>
                </a:solidFill>
                <a:latin typeface="Cambria"/>
              </a:rPr>
              <a:t>✓  Backend</a:t>
            </a:r>
          </a:p>
          <a:p>
            <a:pPr algn="l">
              <a:spcAft>
                <a:spcPts val="900"/>
              </a:spcAft>
            </a:pPr>
            <a:r>
              <a:rPr sz="1250" b="0">
                <a:solidFill>
                  <a:srgbClr val="1F2937"/>
                </a:solidFill>
                <a:latin typeface="Calibri"/>
              </a:rPr>
              <a:t>     Java 21 · Spring Boot 3.x · Log4j2</a:t>
            </a:r>
          </a:p>
          <a:p>
            <a:pPr algn="l">
              <a:spcAft>
                <a:spcPts val="100"/>
              </a:spcAft>
            </a:pPr>
            <a:r>
              <a:rPr sz="1500" b="1">
                <a:solidFill>
                  <a:srgbClr val="15803D"/>
                </a:solidFill>
                <a:latin typeface="Cambria"/>
              </a:rPr>
              <a:t>✓  Veri &amp; ORM</a:t>
            </a:r>
          </a:p>
          <a:p>
            <a:pPr algn="l">
              <a:spcAft>
                <a:spcPts val="900"/>
              </a:spcAft>
            </a:pPr>
            <a:r>
              <a:rPr sz="1250" b="0">
                <a:solidFill>
                  <a:srgbClr val="1F2937"/>
                </a:solidFill>
                <a:latin typeface="Calibri"/>
              </a:rPr>
              <a:t>     PostgreSQL · Spring Data JPA/Hibernate · Flyway</a:t>
            </a:r>
          </a:p>
          <a:p>
            <a:pPr algn="l">
              <a:spcAft>
                <a:spcPts val="100"/>
              </a:spcAft>
            </a:pPr>
            <a:r>
              <a:rPr sz="1500" b="1">
                <a:solidFill>
                  <a:srgbClr val="15803D"/>
                </a:solidFill>
                <a:latin typeface="Cambria"/>
              </a:rPr>
              <a:t>✓  Güvenlik</a:t>
            </a:r>
          </a:p>
          <a:p>
            <a:pPr algn="l">
              <a:spcAft>
                <a:spcPts val="900"/>
              </a:spcAft>
            </a:pPr>
            <a:r>
              <a:rPr sz="1250" b="0">
                <a:solidFill>
                  <a:srgbClr val="1F2937"/>
                </a:solidFill>
                <a:latin typeface="Calibri"/>
              </a:rPr>
              <a:t>     JWT + Keycloak · 2FA (TOTP)</a:t>
            </a:r>
          </a:p>
          <a:p>
            <a:pPr algn="l">
              <a:spcAft>
                <a:spcPts val="100"/>
              </a:spcAft>
            </a:pPr>
            <a:r>
              <a:rPr sz="1500" b="1">
                <a:solidFill>
                  <a:srgbClr val="15803D"/>
                </a:solidFill>
                <a:latin typeface="Cambria"/>
              </a:rPr>
              <a:t>✓  Gözlemlenebilirlik</a:t>
            </a:r>
          </a:p>
          <a:p>
            <a:pPr algn="l">
              <a:spcAft>
                <a:spcPts val="900"/>
              </a:spcAft>
            </a:pPr>
            <a:r>
              <a:rPr sz="1250" b="0">
                <a:solidFill>
                  <a:srgbClr val="1F2937"/>
                </a:solidFill>
                <a:latin typeface="Calibri"/>
              </a:rPr>
              <a:t>     OpenTelemetry · Grafana+Prometheus · OpenSearch</a:t>
            </a:r>
          </a:p>
        </p:txBody>
      </p:sp>
      <p:sp>
        <p:nvSpPr>
          <p:cNvPr id="10" name="TextBox 9"/>
          <p:cNvSpPr txBox="1"/>
          <p:nvPr/>
        </p:nvSpPr>
        <p:spPr>
          <a:xfrm>
            <a:off x="6400800" y="1874519"/>
            <a:ext cx="5029200" cy="4206240"/>
          </a:xfrm>
          <a:prstGeom prst="rect">
            <a:avLst/>
          </a:prstGeom>
          <a:noFill/>
        </p:spPr>
        <p:txBody>
          <a:bodyPr wrap="square" lIns="0" tIns="0" rIns="0" bIns="0" anchor="t">
            <a:spAutoFit/>
          </a:bodyPr>
          <a:lstStyle/>
          <a:p>
            <a:pPr algn="l">
              <a:spcAft>
                <a:spcPts val="100"/>
              </a:spcAft>
            </a:pPr>
            <a:r>
              <a:rPr sz="1500" b="1">
                <a:solidFill>
                  <a:srgbClr val="15803D"/>
                </a:solidFill>
                <a:latin typeface="Cambria"/>
              </a:rPr>
              <a:t>✓  Log aktarımı</a:t>
            </a:r>
          </a:p>
          <a:p>
            <a:pPr algn="l">
              <a:spcAft>
                <a:spcPts val="900"/>
              </a:spcAft>
            </a:pPr>
            <a:r>
              <a:rPr sz="1250" b="0">
                <a:solidFill>
                  <a:srgbClr val="1F2937"/>
                </a:solidFill>
                <a:latin typeface="Calibri"/>
              </a:rPr>
              <a:t>     Kafka (log4j → Kafka → tüketici → OpenSearch)</a:t>
            </a:r>
          </a:p>
          <a:p>
            <a:pPr algn="l">
              <a:spcAft>
                <a:spcPts val="100"/>
              </a:spcAft>
            </a:pPr>
            <a:r>
              <a:rPr sz="1500" b="1">
                <a:solidFill>
                  <a:srgbClr val="15803D"/>
                </a:solidFill>
                <a:latin typeface="Cambria"/>
              </a:rPr>
              <a:t>✓  DevOps</a:t>
            </a:r>
          </a:p>
          <a:p>
            <a:pPr algn="l">
              <a:spcAft>
                <a:spcPts val="900"/>
              </a:spcAft>
            </a:pPr>
            <a:r>
              <a:rPr sz="1250" b="0">
                <a:solidFill>
                  <a:srgbClr val="1F2937"/>
                </a:solidFill>
                <a:latin typeface="Calibri"/>
              </a:rPr>
              <a:t>     Docker · Git (düzenli commit trafiği)</a:t>
            </a:r>
          </a:p>
          <a:p>
            <a:pPr algn="l">
              <a:spcAft>
                <a:spcPts val="100"/>
              </a:spcAft>
            </a:pPr>
            <a:r>
              <a:rPr sz="1500" b="1">
                <a:solidFill>
                  <a:srgbClr val="15803D"/>
                </a:solidFill>
                <a:latin typeface="Cambria"/>
              </a:rPr>
              <a:t>✓  Performans</a:t>
            </a:r>
          </a:p>
          <a:p>
            <a:pPr algn="l">
              <a:spcAft>
                <a:spcPts val="900"/>
              </a:spcAft>
            </a:pPr>
            <a:r>
              <a:rPr sz="1250" b="0">
                <a:solidFill>
                  <a:srgbClr val="1F2937"/>
                </a:solidFill>
                <a:latin typeface="Calibri"/>
              </a:rPr>
              <a:t>     Cache — Caffeine (in-memory)</a:t>
            </a:r>
          </a:p>
          <a:p>
            <a:pPr algn="l">
              <a:spcAft>
                <a:spcPts val="100"/>
              </a:spcAft>
            </a:pPr>
            <a:r>
              <a:rPr sz="1500" b="1">
                <a:solidFill>
                  <a:srgbClr val="15803D"/>
                </a:solidFill>
                <a:latin typeface="Cambria"/>
              </a:rPr>
              <a:t>✓  Dokümantasyon &amp; Kalite</a:t>
            </a:r>
          </a:p>
          <a:p>
            <a:pPr algn="l">
              <a:spcAft>
                <a:spcPts val="900"/>
              </a:spcAft>
            </a:pPr>
            <a:r>
              <a:rPr sz="1250" b="0">
                <a:solidFill>
                  <a:srgbClr val="1F2937"/>
                </a:solidFill>
                <a:latin typeface="Calibri"/>
              </a:rPr>
              <a:t>     REST /api/v1 versioning · OpenAPI/Swagger · Javadocs · README</a:t>
            </a:r>
          </a:p>
          <a:p>
            <a:pPr algn="l">
              <a:spcAft>
                <a:spcPts val="900"/>
              </a:spcAft>
            </a:pPr>
            <a:r>
              <a:rPr sz="1250" b="0">
                <a:solidFill>
                  <a:srgbClr val="1F2937"/>
                </a:solidFill>
                <a:latin typeface="Calibri"/>
              </a:rPr>
              <a:t>     Unit Test · Error Handling · Katmanlı Mimari / OOP</a:t>
            </a: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Ekstra Teknolojiler</a:t>
            </a:r>
          </a:p>
          <a:p>
            <a:pPr algn="l">
              <a:spcAft>
                <a:spcPts val="600"/>
              </a:spcAft>
            </a:pPr>
            <a:r>
              <a:rPr sz="1400" b="0">
                <a:solidFill>
                  <a:srgbClr val="475569"/>
                </a:solidFill>
                <a:latin typeface="Calibri"/>
              </a:rPr>
              <a:t>İsterlerin ötesinde eklediklerimiz</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74519"/>
            <a:ext cx="5074920" cy="4389120"/>
          </a:xfrm>
          <a:prstGeom prst="rect">
            <a:avLst/>
          </a:prstGeom>
          <a:noFill/>
        </p:spPr>
        <p:txBody>
          <a:bodyPr wrap="square" lIns="0" tIns="0" rIns="0" bIns="0" anchor="t">
            <a:spAutoFit/>
          </a:bodyPr>
          <a:lstStyle/>
          <a:p>
            <a:pPr algn="l">
              <a:spcAft>
                <a:spcPts val="100"/>
              </a:spcAft>
            </a:pPr>
            <a:r>
              <a:rPr sz="1400" b="1">
                <a:solidFill>
                  <a:srgbClr val="1E3A8A"/>
                </a:solidFill>
                <a:latin typeface="Cambria"/>
              </a:rPr>
              <a:t>▸  Kubernetes · Kustomize · GKE</a:t>
            </a:r>
          </a:p>
          <a:p>
            <a:pPr algn="l">
              <a:spcAft>
                <a:spcPts val="900"/>
              </a:spcAft>
            </a:pPr>
            <a:r>
              <a:rPr sz="1150" b="0">
                <a:solidFill>
                  <a:srgbClr val="475569"/>
                </a:solidFill>
                <a:latin typeface="Calibri"/>
              </a:rPr>
              <a:t>     Docker'ın ötesinde üretim orkestrasyonu (WIF ile anahtarsız deploy)</a:t>
            </a:r>
          </a:p>
          <a:p>
            <a:pPr algn="l">
              <a:spcAft>
                <a:spcPts val="100"/>
              </a:spcAft>
            </a:pPr>
            <a:r>
              <a:rPr sz="1400" b="1">
                <a:solidFill>
                  <a:srgbClr val="1E3A8A"/>
                </a:solidFill>
                <a:latin typeface="Cambria"/>
              </a:rPr>
              <a:t>▸  GitHub Actions CI/CD</a:t>
            </a:r>
          </a:p>
          <a:p>
            <a:pPr algn="l">
              <a:spcAft>
                <a:spcPts val="900"/>
              </a:spcAft>
            </a:pPr>
            <a:r>
              <a:rPr sz="1150" b="0">
                <a:solidFill>
                  <a:srgbClr val="475569"/>
                </a:solidFill>
                <a:latin typeface="Calibri"/>
              </a:rPr>
              <a:t>     Otomatik build, test ve dağıtım hattı</a:t>
            </a:r>
          </a:p>
          <a:p>
            <a:pPr algn="l">
              <a:spcAft>
                <a:spcPts val="100"/>
              </a:spcAft>
            </a:pPr>
            <a:r>
              <a:rPr sz="1400" b="1">
                <a:solidFill>
                  <a:srgbClr val="1E3A8A"/>
                </a:solidFill>
                <a:latin typeface="Cambria"/>
              </a:rPr>
              <a:t>▸  SonarCloud + JaCoCo</a:t>
            </a:r>
          </a:p>
          <a:p>
            <a:pPr algn="l">
              <a:spcAft>
                <a:spcPts val="900"/>
              </a:spcAft>
            </a:pPr>
            <a:r>
              <a:rPr sz="1150" b="0">
                <a:solidFill>
                  <a:srgbClr val="475569"/>
                </a:solidFill>
                <a:latin typeface="Calibri"/>
              </a:rPr>
              <a:t>     Kod kalite kapıları + test kapsamı ölçümü</a:t>
            </a:r>
          </a:p>
          <a:p>
            <a:pPr algn="l">
              <a:spcAft>
                <a:spcPts val="100"/>
              </a:spcAft>
            </a:pPr>
            <a:r>
              <a:rPr sz="1400" b="1">
                <a:solidFill>
                  <a:srgbClr val="1E3A8A"/>
                </a:solidFill>
                <a:latin typeface="Cambria"/>
              </a:rPr>
              <a:t>▸  Jaeger</a:t>
            </a:r>
          </a:p>
          <a:p>
            <a:pPr algn="l">
              <a:spcAft>
                <a:spcPts val="900"/>
              </a:spcAft>
            </a:pPr>
            <a:r>
              <a:rPr sz="1150" b="0">
                <a:solidFill>
                  <a:srgbClr val="475569"/>
                </a:solidFill>
                <a:latin typeface="Calibri"/>
              </a:rPr>
              <a:t>     Dağıtık iz (trace) görüntüleme — OTel ile</a:t>
            </a:r>
          </a:p>
          <a:p>
            <a:pPr algn="l">
              <a:spcAft>
                <a:spcPts val="100"/>
              </a:spcAft>
            </a:pPr>
            <a:r>
              <a:rPr sz="1400" b="1">
                <a:solidFill>
                  <a:srgbClr val="1E3A8A"/>
                </a:solidFill>
                <a:latin typeface="Cambria"/>
              </a:rPr>
              <a:t>▸  ShedLock</a:t>
            </a:r>
          </a:p>
          <a:p>
            <a:pPr algn="l">
              <a:spcAft>
                <a:spcPts val="900"/>
              </a:spcAft>
            </a:pPr>
            <a:r>
              <a:rPr sz="1150" b="0">
                <a:solidFill>
                  <a:srgbClr val="475569"/>
                </a:solidFill>
                <a:latin typeface="Calibri"/>
              </a:rPr>
              <a:t>     Dağıtık zamanlayıcı kilidi (çok-replika güvenliği)</a:t>
            </a:r>
          </a:p>
          <a:p>
            <a:pPr algn="l">
              <a:spcAft>
                <a:spcPts val="100"/>
              </a:spcAft>
            </a:pPr>
            <a:r>
              <a:rPr sz="1400" b="1">
                <a:solidFill>
                  <a:srgbClr val="1E3A8A"/>
                </a:solidFill>
                <a:latin typeface="Cambria"/>
              </a:rPr>
              <a:t>▸  LLM / Yapay zeka danışman</a:t>
            </a:r>
          </a:p>
          <a:p>
            <a:pPr algn="l">
              <a:spcAft>
                <a:spcPts val="900"/>
              </a:spcAft>
            </a:pPr>
            <a:r>
              <a:rPr sz="1150" b="0">
                <a:solidFill>
                  <a:srgbClr val="475569"/>
                </a:solidFill>
                <a:latin typeface="Calibri"/>
              </a:rPr>
              <a:t>     OpenAI-uyumlu (Groq) sohbet asistanı</a:t>
            </a:r>
          </a:p>
        </p:txBody>
      </p:sp>
      <p:sp>
        <p:nvSpPr>
          <p:cNvPr id="10" name="TextBox 9"/>
          <p:cNvSpPr txBox="1"/>
          <p:nvPr/>
        </p:nvSpPr>
        <p:spPr>
          <a:xfrm>
            <a:off x="6400800" y="1874519"/>
            <a:ext cx="5074920" cy="1967205"/>
          </a:xfrm>
          <a:prstGeom prst="rect">
            <a:avLst/>
          </a:prstGeom>
          <a:noFill/>
        </p:spPr>
        <p:txBody>
          <a:bodyPr wrap="square" lIns="0" tIns="0" rIns="0" bIns="0" anchor="t">
            <a:spAutoFit/>
          </a:bodyPr>
          <a:lstStyle/>
          <a:p>
            <a:pPr algn="l">
              <a:spcAft>
                <a:spcPts val="100"/>
              </a:spcAft>
            </a:pPr>
            <a:r>
              <a:rPr sz="1400" b="1" dirty="0">
                <a:solidFill>
                  <a:srgbClr val="1E3A8A"/>
                </a:solidFill>
                <a:latin typeface="Cambria"/>
              </a:rPr>
              <a:t>▸  </a:t>
            </a:r>
            <a:r>
              <a:rPr sz="1400" b="1" dirty="0" err="1">
                <a:solidFill>
                  <a:srgbClr val="1E3A8A"/>
                </a:solidFill>
                <a:latin typeface="Cambria"/>
              </a:rPr>
              <a:t>LibreTranslate</a:t>
            </a:r>
            <a:endParaRPr sz="1400" b="1" dirty="0">
              <a:solidFill>
                <a:srgbClr val="1E3A8A"/>
              </a:solidFill>
              <a:latin typeface="Cambria"/>
            </a:endParaRPr>
          </a:p>
          <a:p>
            <a:pPr algn="l">
              <a:spcAft>
                <a:spcPts val="900"/>
              </a:spcAft>
            </a:pPr>
            <a:r>
              <a:rPr sz="1150" b="0" dirty="0">
                <a:solidFill>
                  <a:srgbClr val="475569"/>
                </a:solidFill>
                <a:latin typeface="Calibri"/>
              </a:rPr>
              <a:t>     Self-hosted TR↔EN </a:t>
            </a:r>
            <a:r>
              <a:rPr sz="1150" b="0" dirty="0" err="1">
                <a:solidFill>
                  <a:srgbClr val="475569"/>
                </a:solidFill>
                <a:latin typeface="Calibri"/>
              </a:rPr>
              <a:t>haber</a:t>
            </a:r>
            <a:r>
              <a:rPr sz="1150" b="0" dirty="0">
                <a:solidFill>
                  <a:srgbClr val="475569"/>
                </a:solidFill>
                <a:latin typeface="Calibri"/>
              </a:rPr>
              <a:t> </a:t>
            </a:r>
            <a:r>
              <a:rPr sz="1150" b="0" dirty="0" err="1">
                <a:solidFill>
                  <a:srgbClr val="475569"/>
                </a:solidFill>
                <a:latin typeface="Calibri"/>
              </a:rPr>
              <a:t>çevirisi</a:t>
            </a:r>
            <a:endParaRPr sz="1150" b="0" dirty="0">
              <a:solidFill>
                <a:srgbClr val="475569"/>
              </a:solidFill>
              <a:latin typeface="Calibri"/>
            </a:endParaRPr>
          </a:p>
          <a:p>
            <a:pPr algn="l">
              <a:spcAft>
                <a:spcPts val="100"/>
              </a:spcAft>
            </a:pPr>
            <a:r>
              <a:rPr sz="1400" b="1" dirty="0">
                <a:solidFill>
                  <a:srgbClr val="1E3A8A"/>
                </a:solidFill>
                <a:latin typeface="Cambria"/>
              </a:rPr>
              <a:t>▸  </a:t>
            </a:r>
            <a:r>
              <a:rPr sz="1400" b="1" dirty="0" err="1">
                <a:solidFill>
                  <a:srgbClr val="1E3A8A"/>
                </a:solidFill>
                <a:latin typeface="Cambria"/>
              </a:rPr>
              <a:t>OpenLDAP</a:t>
            </a:r>
            <a:endParaRPr sz="1400" b="1" dirty="0">
              <a:solidFill>
                <a:srgbClr val="1E3A8A"/>
              </a:solidFill>
              <a:latin typeface="Cambria"/>
            </a:endParaRPr>
          </a:p>
          <a:p>
            <a:pPr algn="l">
              <a:spcAft>
                <a:spcPts val="900"/>
              </a:spcAft>
            </a:pPr>
            <a:r>
              <a:rPr sz="1150" b="0" dirty="0">
                <a:solidFill>
                  <a:srgbClr val="475569"/>
                </a:solidFill>
                <a:latin typeface="Calibri"/>
              </a:rPr>
              <a:t>     </a:t>
            </a:r>
            <a:r>
              <a:rPr sz="1150" b="0" dirty="0" err="1">
                <a:solidFill>
                  <a:srgbClr val="475569"/>
                </a:solidFill>
                <a:latin typeface="Calibri"/>
              </a:rPr>
              <a:t>Keycloak</a:t>
            </a:r>
            <a:r>
              <a:rPr sz="1150" b="0" dirty="0">
                <a:solidFill>
                  <a:srgbClr val="475569"/>
                </a:solidFill>
                <a:latin typeface="Calibri"/>
              </a:rPr>
              <a:t> </a:t>
            </a:r>
            <a:r>
              <a:rPr sz="1150" b="0" dirty="0" err="1">
                <a:solidFill>
                  <a:srgbClr val="475569"/>
                </a:solidFill>
                <a:latin typeface="Calibri"/>
              </a:rPr>
              <a:t>kullanıcı</a:t>
            </a:r>
            <a:r>
              <a:rPr sz="1150" b="0" dirty="0">
                <a:solidFill>
                  <a:srgbClr val="475569"/>
                </a:solidFill>
                <a:latin typeface="Calibri"/>
              </a:rPr>
              <a:t> </a:t>
            </a:r>
            <a:r>
              <a:rPr sz="1150" b="0" dirty="0" err="1">
                <a:solidFill>
                  <a:srgbClr val="475569"/>
                </a:solidFill>
                <a:latin typeface="Calibri"/>
              </a:rPr>
              <a:t>federasyonu</a:t>
            </a:r>
            <a:endParaRPr sz="1150" b="0" dirty="0">
              <a:solidFill>
                <a:srgbClr val="475569"/>
              </a:solidFill>
              <a:latin typeface="Calibri"/>
            </a:endParaRPr>
          </a:p>
          <a:p>
            <a:pPr algn="l">
              <a:spcAft>
                <a:spcPts val="100"/>
              </a:spcAft>
            </a:pPr>
            <a:r>
              <a:rPr sz="1400" b="1" dirty="0">
                <a:solidFill>
                  <a:srgbClr val="1E3A8A"/>
                </a:solidFill>
                <a:latin typeface="Cambria"/>
              </a:rPr>
              <a:t>▸  Spring Mail + </a:t>
            </a:r>
            <a:r>
              <a:rPr sz="1400" b="1" dirty="0" err="1">
                <a:solidFill>
                  <a:srgbClr val="1E3A8A"/>
                </a:solidFill>
                <a:latin typeface="Cambria"/>
              </a:rPr>
              <a:t>Mailpit</a:t>
            </a:r>
            <a:endParaRPr sz="1400" b="1" dirty="0">
              <a:solidFill>
                <a:srgbClr val="1E3A8A"/>
              </a:solidFill>
              <a:latin typeface="Cambria"/>
            </a:endParaRPr>
          </a:p>
          <a:p>
            <a:pPr algn="l">
              <a:spcAft>
                <a:spcPts val="900"/>
              </a:spcAft>
            </a:pPr>
            <a:r>
              <a:rPr sz="1150" b="0" dirty="0">
                <a:solidFill>
                  <a:srgbClr val="475569"/>
                </a:solidFill>
                <a:latin typeface="Calibri"/>
              </a:rPr>
              <a:t>     E-</a:t>
            </a:r>
            <a:r>
              <a:rPr sz="1150" b="0" dirty="0" err="1">
                <a:solidFill>
                  <a:srgbClr val="475569"/>
                </a:solidFill>
                <a:latin typeface="Calibri"/>
              </a:rPr>
              <a:t>posta</a:t>
            </a:r>
            <a:r>
              <a:rPr sz="1150" b="0" dirty="0">
                <a:solidFill>
                  <a:srgbClr val="475569"/>
                </a:solidFill>
                <a:latin typeface="Calibri"/>
              </a:rPr>
              <a:t> </a:t>
            </a:r>
            <a:r>
              <a:rPr sz="1150" b="0" dirty="0" err="1">
                <a:solidFill>
                  <a:srgbClr val="475569"/>
                </a:solidFill>
                <a:latin typeface="Calibri"/>
              </a:rPr>
              <a:t>fiyat</a:t>
            </a:r>
            <a:r>
              <a:rPr sz="1150" b="0" dirty="0">
                <a:solidFill>
                  <a:srgbClr val="475569"/>
                </a:solidFill>
                <a:latin typeface="Calibri"/>
              </a:rPr>
              <a:t> </a:t>
            </a:r>
            <a:r>
              <a:rPr sz="1150" b="0" dirty="0" err="1">
                <a:solidFill>
                  <a:srgbClr val="475569"/>
                </a:solidFill>
                <a:latin typeface="Calibri"/>
              </a:rPr>
              <a:t>alarmı</a:t>
            </a:r>
            <a:r>
              <a:rPr sz="1150" b="0" dirty="0">
                <a:solidFill>
                  <a:srgbClr val="475569"/>
                </a:solidFill>
                <a:latin typeface="Calibri"/>
              </a:rPr>
              <a:t> </a:t>
            </a:r>
            <a:r>
              <a:rPr sz="1150" b="0" dirty="0" err="1">
                <a:solidFill>
                  <a:srgbClr val="475569"/>
                </a:solidFill>
                <a:latin typeface="Calibri"/>
              </a:rPr>
              <a:t>bildirimleri</a:t>
            </a:r>
            <a:endParaRPr sz="1150" b="0" dirty="0">
              <a:solidFill>
                <a:srgbClr val="475569"/>
              </a:solidFill>
              <a:latin typeface="Calibri"/>
            </a:endParaRPr>
          </a:p>
          <a:p>
            <a:pPr algn="l">
              <a:spcAft>
                <a:spcPts val="100"/>
              </a:spcAft>
            </a:pPr>
            <a:r>
              <a:rPr sz="1400" b="1" dirty="0">
                <a:solidFill>
                  <a:srgbClr val="1E3A8A"/>
                </a:solidFill>
                <a:latin typeface="Cambria"/>
              </a:rPr>
              <a:t>▸  Apache POI + </a:t>
            </a:r>
            <a:r>
              <a:rPr sz="1400" b="1" dirty="0" err="1">
                <a:solidFill>
                  <a:srgbClr val="1E3A8A"/>
                </a:solidFill>
                <a:latin typeface="Cambria"/>
              </a:rPr>
              <a:t>SheetJS</a:t>
            </a:r>
            <a:endParaRPr sz="1400" b="1" dirty="0">
              <a:solidFill>
                <a:srgbClr val="1E3A8A"/>
              </a:solidFill>
              <a:latin typeface="Cambria"/>
            </a:endParaRPr>
          </a:p>
          <a:p>
            <a:pPr algn="l">
              <a:spcAft>
                <a:spcPts val="900"/>
              </a:spcAft>
            </a:pPr>
            <a:r>
              <a:rPr sz="1150" b="0" dirty="0">
                <a:solidFill>
                  <a:srgbClr val="475569"/>
                </a:solidFill>
                <a:latin typeface="Calibri"/>
              </a:rPr>
              <a:t>     Excel </a:t>
            </a:r>
            <a:r>
              <a:rPr sz="1150" b="0" dirty="0" err="1">
                <a:solidFill>
                  <a:srgbClr val="475569"/>
                </a:solidFill>
                <a:latin typeface="Calibri"/>
              </a:rPr>
              <a:t>ile</a:t>
            </a:r>
            <a:r>
              <a:rPr sz="1150" b="0" dirty="0">
                <a:solidFill>
                  <a:srgbClr val="475569"/>
                </a:solidFill>
                <a:latin typeface="Calibri"/>
              </a:rPr>
              <a:t> </a:t>
            </a:r>
            <a:r>
              <a:rPr sz="1150" b="0" dirty="0" err="1">
                <a:solidFill>
                  <a:srgbClr val="475569"/>
                </a:solidFill>
                <a:latin typeface="Calibri"/>
              </a:rPr>
              <a:t>portföy</a:t>
            </a:r>
            <a:r>
              <a:rPr sz="1150" b="0" dirty="0">
                <a:solidFill>
                  <a:srgbClr val="475569"/>
                </a:solidFill>
                <a:latin typeface="Calibri"/>
              </a:rPr>
              <a:t> </a:t>
            </a:r>
            <a:r>
              <a:rPr sz="1150" b="0" dirty="0" err="1">
                <a:solidFill>
                  <a:srgbClr val="475569"/>
                </a:solidFill>
                <a:latin typeface="Calibri"/>
              </a:rPr>
              <a:t>içe</a:t>
            </a:r>
            <a:r>
              <a:rPr sz="1150" b="0" dirty="0">
                <a:solidFill>
                  <a:srgbClr val="475569"/>
                </a:solidFill>
                <a:latin typeface="Calibri"/>
              </a:rPr>
              <a:t>/</a:t>
            </a:r>
            <a:r>
              <a:rPr sz="1150" b="0" dirty="0" err="1">
                <a:solidFill>
                  <a:srgbClr val="475569"/>
                </a:solidFill>
                <a:latin typeface="Calibri"/>
              </a:rPr>
              <a:t>dışa</a:t>
            </a:r>
            <a:r>
              <a:rPr sz="1150" b="0" dirty="0">
                <a:solidFill>
                  <a:srgbClr val="475569"/>
                </a:solidFill>
                <a:latin typeface="Calibri"/>
              </a:rPr>
              <a:t> </a:t>
            </a:r>
            <a:r>
              <a:rPr sz="1150" b="0" dirty="0" err="1">
                <a:solidFill>
                  <a:srgbClr val="475569"/>
                </a:solidFill>
                <a:latin typeface="Calibri"/>
              </a:rPr>
              <a:t>aktarma</a:t>
            </a:r>
            <a:endParaRPr sz="1150" b="0" dirty="0">
              <a:solidFill>
                <a:srgbClr val="475569"/>
              </a:solidFill>
              <a:latin typeface="Calibri"/>
            </a:endParaRPr>
          </a:p>
        </p:txBody>
      </p:sp>
      <p:sp>
        <p:nvSpPr>
          <p:cNvPr id="11" name="Right Triangle 10"/>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Triangle 11"/>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Zorluklar ve Öğrendiklerim</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01</a:t>
            </a:r>
          </a:p>
          <a:p>
            <a:pPr algn="l">
              <a:spcAft>
                <a:spcPts val="800"/>
              </a:spcAft>
            </a:pPr>
            <a:r>
              <a:rPr sz="1700" b="1">
                <a:solidFill>
                  <a:srgbClr val="1E3A8A"/>
                </a:solidFill>
                <a:latin typeface="Cambria"/>
              </a:rPr>
              <a:t>CI/CD Pipeline</a:t>
            </a:r>
          </a:p>
          <a:p>
            <a:pPr algn="l">
              <a:spcAft>
                <a:spcPts val="400"/>
              </a:spcAft>
            </a:pPr>
            <a:r>
              <a:rPr sz="1250" b="0">
                <a:solidFill>
                  <a:srgbClr val="1F2937"/>
                </a:solidFill>
                <a:latin typeface="Calibri"/>
              </a:rPr>
              <a:t>Daha önce daha basit projelerimde uyguladığım CI ve CD Pipeline, bu kapsamlı projede özellikle CD kısmı beni en çok zorlayan bölümlerden oldu.</a:t>
            </a:r>
          </a:p>
        </p:txBody>
      </p:sp>
      <p:sp>
        <p:nvSpPr>
          <p:cNvPr id="10" name="TextBox 9"/>
          <p:cNvSpPr txBox="1"/>
          <p:nvPr/>
        </p:nvSpPr>
        <p:spPr>
          <a:xfrm>
            <a:off x="475488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02</a:t>
            </a:r>
          </a:p>
          <a:p>
            <a:pPr algn="l">
              <a:spcAft>
                <a:spcPts val="800"/>
              </a:spcAft>
            </a:pPr>
            <a:r>
              <a:rPr sz="1700" b="1">
                <a:solidFill>
                  <a:srgbClr val="1E3A8A"/>
                </a:solidFill>
                <a:latin typeface="Cambria"/>
              </a:rPr>
              <a:t>Finansal Okuryazarlık</a:t>
            </a:r>
          </a:p>
          <a:p>
            <a:pPr algn="l">
              <a:spcAft>
                <a:spcPts val="400"/>
              </a:spcAft>
            </a:pPr>
            <a:r>
              <a:rPr sz="1250" b="0">
                <a:solidFill>
                  <a:srgbClr val="1F2937"/>
                </a:solidFill>
                <a:latin typeface="Calibri"/>
              </a:rPr>
              <a:t>Sistemi yalnızca geliştirici değil, gerçek bir kullanıcının ihtiyaçları üzerinden değerlendirmeye çalıştım. Başlangıçta finansal kavramları, yatırım araçlarını ve kullanıcı beklentilerini öğrenmeye odaklandım.</a:t>
            </a:r>
          </a:p>
        </p:txBody>
      </p:sp>
      <p:sp>
        <p:nvSpPr>
          <p:cNvPr id="11" name="TextBox 10"/>
          <p:cNvSpPr txBox="1"/>
          <p:nvPr/>
        </p:nvSpPr>
        <p:spPr>
          <a:xfrm>
            <a:off x="8458200" y="1920240"/>
            <a:ext cx="3383280" cy="4206240"/>
          </a:xfrm>
          <a:prstGeom prst="rect">
            <a:avLst/>
          </a:prstGeom>
          <a:noFill/>
        </p:spPr>
        <p:txBody>
          <a:bodyPr wrap="square" lIns="0" tIns="0" rIns="0" bIns="0" anchor="t">
            <a:spAutoFit/>
          </a:bodyPr>
          <a:lstStyle/>
          <a:p>
            <a:pPr algn="l">
              <a:spcAft>
                <a:spcPts val="200"/>
              </a:spcAft>
            </a:pPr>
            <a:r>
              <a:rPr sz="4000" b="1">
                <a:solidFill>
                  <a:srgbClr val="DBEAFE"/>
                </a:solidFill>
                <a:latin typeface="Cambria"/>
              </a:rPr>
              <a:t>03</a:t>
            </a:r>
          </a:p>
          <a:p>
            <a:pPr algn="l">
              <a:spcAft>
                <a:spcPts val="800"/>
              </a:spcAft>
            </a:pPr>
            <a:r>
              <a:rPr sz="1700" b="1">
                <a:solidFill>
                  <a:srgbClr val="1E3A8A"/>
                </a:solidFill>
                <a:latin typeface="Cambria"/>
              </a:rPr>
              <a:t>Yeni Teknolojiler</a:t>
            </a:r>
          </a:p>
          <a:p>
            <a:pPr algn="l">
              <a:spcAft>
                <a:spcPts val="400"/>
              </a:spcAft>
            </a:pPr>
            <a:r>
              <a:rPr sz="1250" b="0">
                <a:solidFill>
                  <a:srgbClr val="1F2937"/>
                </a:solidFill>
                <a:latin typeface="Calibri"/>
              </a:rPr>
              <a:t>SonarCloud, JaCoCo ve Grafana gibi araçlar başta zorladı; ancak bu süreç kod kalitesi, test kapsamı ve sistem izleme konularında bakış açımı geliştirdi.</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77240" y="548640"/>
            <a:ext cx="146304" cy="8686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502920"/>
            <a:ext cx="10241280" cy="1005840"/>
          </a:xfrm>
          <a:prstGeom prst="rect">
            <a:avLst/>
          </a:prstGeom>
          <a:noFill/>
        </p:spPr>
        <p:txBody>
          <a:bodyPr wrap="square" lIns="0" tIns="0" rIns="0" bIns="0" anchor="t">
            <a:spAutoFit/>
          </a:bodyPr>
          <a:lstStyle/>
          <a:p>
            <a:pPr algn="l">
              <a:spcAft>
                <a:spcPts val="200"/>
              </a:spcAft>
            </a:pPr>
            <a:r>
              <a:rPr sz="3400" b="1">
                <a:solidFill>
                  <a:srgbClr val="1E3A8A"/>
                </a:solidFill>
                <a:latin typeface="Cambria"/>
              </a:rPr>
              <a:t>Eksik Kalan İsterler</a:t>
            </a:r>
          </a:p>
        </p:txBody>
      </p:sp>
      <p:sp>
        <p:nvSpPr>
          <p:cNvPr id="8" name="Rectangle 7"/>
          <p:cNvSpPr/>
          <p:nvPr/>
        </p:nvSpPr>
        <p:spPr>
          <a:xfrm>
            <a:off x="1051560" y="1481328"/>
            <a:ext cx="2926080" cy="4572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1874519"/>
            <a:ext cx="10058400" cy="914400"/>
          </a:xfrm>
          <a:prstGeom prst="rect">
            <a:avLst/>
          </a:prstGeom>
          <a:solidFill>
            <a:srgbClr val="F0FDF4"/>
          </a:solidFill>
          <a:ln w="1270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2011680"/>
            <a:ext cx="9601200" cy="731520"/>
          </a:xfrm>
          <a:prstGeom prst="rect">
            <a:avLst/>
          </a:prstGeom>
          <a:noFill/>
        </p:spPr>
        <p:txBody>
          <a:bodyPr wrap="square" lIns="0" tIns="0" rIns="0" bIns="0" anchor="ctr">
            <a:spAutoFit/>
          </a:bodyPr>
          <a:lstStyle/>
          <a:p>
            <a:pPr algn="l">
              <a:spcAft>
                <a:spcPts val="600"/>
              </a:spcAft>
            </a:pPr>
            <a:r>
              <a:rPr sz="1700" b="1">
                <a:solidFill>
                  <a:srgbClr val="15803D"/>
                </a:solidFill>
                <a:latin typeface="Cambria"/>
              </a:rPr>
              <a:t>✓  Zorunlu isterlerin tamamı (1–24) karşılandı.</a:t>
            </a:r>
          </a:p>
        </p:txBody>
      </p:sp>
      <p:sp>
        <p:nvSpPr>
          <p:cNvPr id="11" name="TextBox 10"/>
          <p:cNvSpPr txBox="1"/>
          <p:nvPr/>
        </p:nvSpPr>
        <p:spPr>
          <a:xfrm>
            <a:off x="1051560" y="3200400"/>
            <a:ext cx="10058400" cy="2743200"/>
          </a:xfrm>
          <a:prstGeom prst="rect">
            <a:avLst/>
          </a:prstGeom>
          <a:noFill/>
        </p:spPr>
        <p:txBody>
          <a:bodyPr wrap="square" lIns="0" tIns="0" rIns="0" bIns="0" anchor="t">
            <a:spAutoFit/>
          </a:bodyPr>
          <a:lstStyle/>
          <a:p>
            <a:pPr algn="l">
              <a:spcAft>
                <a:spcPts val="600"/>
              </a:spcAft>
            </a:pPr>
            <a:r>
              <a:rPr sz="1500" b="1">
                <a:solidFill>
                  <a:srgbClr val="1D4ED8"/>
                </a:solidFill>
                <a:latin typeface="Cambria"/>
              </a:rPr>
              <a:t>Yalnızca opsiyonel madde:</a:t>
            </a:r>
          </a:p>
          <a:p>
            <a:pPr algn="l">
              <a:spcAft>
                <a:spcPts val="1000"/>
              </a:spcAft>
            </a:pPr>
            <a:r>
              <a:rPr sz="1450" b="0">
                <a:solidFill>
                  <a:srgbClr val="1F2937"/>
                </a:solidFill>
                <a:latin typeface="Calibri"/>
              </a:rPr>
              <a:t>▸  Madde 17 — Redis (opsiyonel) kullanılmadı. Yerine Caffeine in-memory cache tercih edildi; tek-instance için yeterli, çok-instance dağıtımda Redis'e geçiş için altyapı hazır.</a:t>
            </a:r>
          </a:p>
          <a:p>
            <a:pPr algn="l">
              <a:spcAft>
                <a:spcPts val="400"/>
              </a:spcAft>
            </a:pPr>
            <a:r>
              <a:rPr sz="1500" b="1">
                <a:solidFill>
                  <a:srgbClr val="1D4ED8"/>
                </a:solidFill>
                <a:latin typeface="Cambria"/>
              </a:rPr>
              <a:t>Not:</a:t>
            </a:r>
          </a:p>
          <a:p>
            <a:pPr algn="l">
              <a:spcAft>
                <a:spcPts val="600"/>
              </a:spcAft>
            </a:pPr>
            <a:r>
              <a:rPr sz="1450" b="0">
                <a:solidFill>
                  <a:srgbClr val="1F2937"/>
                </a:solidFill>
                <a:latin typeface="Calibri"/>
              </a:rPr>
              <a:t>▸  GKE'ye otomatik CD şu an maliyet nedeniyle manuel tetiklemeye alınmıştır; deploy hattı çalışır durumdadır.</a:t>
            </a:r>
          </a:p>
        </p:txBody>
      </p:sp>
      <p:sp>
        <p:nvSpPr>
          <p:cNvPr id="12" name="Right Triangle 11"/>
          <p:cNvSpPr/>
          <p:nvPr/>
        </p:nvSpPr>
        <p:spPr>
          <a:xfrm flipV="1" flipH="1">
            <a:off x="10500360" y="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Triangle 12"/>
          <p:cNvSpPr/>
          <p:nvPr/>
        </p:nvSpPr>
        <p:spPr>
          <a:xfrm flipV="1" flipH="1">
            <a:off x="11094720" y="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Triangle 13"/>
          <p:cNvSpPr/>
          <p:nvPr/>
        </p:nvSpPr>
        <p:spPr>
          <a:xfrm flipH="1">
            <a:off x="10500360" y="5715000"/>
            <a:ext cx="1691640" cy="1143000"/>
          </a:xfrm>
          <a:prstGeom prst="rtTriangle">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1094720" y="6126480"/>
            <a:ext cx="1097280" cy="731520"/>
          </a:xfrm>
          <a:prstGeom prst="rtTriangl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rot="720000">
            <a:off x="-914400" y="-914400"/>
            <a:ext cx="2743200" cy="86868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194560" y="2377440"/>
            <a:ext cx="8778240" cy="2377440"/>
          </a:xfrm>
          <a:prstGeom prst="rect">
            <a:avLst/>
          </a:prstGeom>
          <a:noFill/>
        </p:spPr>
        <p:txBody>
          <a:bodyPr wrap="square" lIns="0" tIns="0" rIns="0" bIns="0" anchor="t">
            <a:spAutoFit/>
          </a:bodyPr>
          <a:lstStyle/>
          <a:p>
            <a:pPr algn="l">
              <a:spcAft>
                <a:spcPts val="1000"/>
              </a:spcAft>
            </a:pPr>
            <a:r>
              <a:rPr sz="4600" b="1">
                <a:solidFill>
                  <a:srgbClr val="FFFFFF"/>
                </a:solidFill>
                <a:latin typeface="Cambria"/>
              </a:rPr>
              <a:t>Teşekkürler</a:t>
            </a:r>
          </a:p>
          <a:p>
            <a:pPr algn="l">
              <a:spcAft>
                <a:spcPts val="600"/>
              </a:spcAft>
            </a:pPr>
            <a:r>
              <a:rPr sz="1700" b="0">
                <a:solidFill>
                  <a:srgbClr val="DBEAFE"/>
                </a:solidFill>
                <a:latin typeface="Calibri"/>
              </a:rPr>
              <a:t>Finans Portalı — çok-varlıklı finans portföy &amp; piyasa takip platformu</a:t>
            </a:r>
          </a:p>
          <a:p>
            <a:pPr algn="l">
              <a:spcAft>
                <a:spcPts val="200"/>
              </a:spcAft>
            </a:pPr>
            <a:r>
              <a:rPr sz="1500" b="0">
                <a:solidFill>
                  <a:srgbClr val="FFFFFF"/>
                </a:solidFill>
                <a:latin typeface="Calibri"/>
              </a:rPr>
              <a:t>Yiğit Şeker · Sakarya Üniversitesi Yazılım Mühendisliği</a:t>
            </a:r>
          </a:p>
          <a:p>
            <a:pPr algn="l">
              <a:spcAft>
                <a:spcPts val="600"/>
              </a:spcAft>
            </a:pPr>
            <a:r>
              <a:rPr sz="1400" b="0">
                <a:solidFill>
                  <a:srgbClr val="DBEAFE"/>
                </a:solidFill>
                <a:latin typeface="Calibri"/>
              </a:rPr>
              <a:t>GitHub: github.com/yigitsheker/finans-portali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854</Words>
  <Application>Microsoft Office PowerPoint</Application>
  <PresentationFormat>Geniş ekran</PresentationFormat>
  <Paragraphs>120</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Yiğit Şeker</cp:lastModifiedBy>
  <cp:revision>2</cp:revision>
  <dcterms:created xsi:type="dcterms:W3CDTF">2013-01-27T09:14:16Z</dcterms:created>
  <dcterms:modified xsi:type="dcterms:W3CDTF">2026-06-07T00:06:05Z</dcterms:modified>
  <cp:category/>
</cp:coreProperties>
</file>